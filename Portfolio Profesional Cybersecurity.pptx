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75" r:id="rId12"/>
    <p:sldId id="264" r:id="rId13"/>
    <p:sldId id="276" r:id="rId14"/>
    <p:sldId id="267" r:id="rId15"/>
    <p:sldId id="272" r:id="rId16"/>
  </p:sldIdLst>
  <p:sldSz cx="18288000" cy="10287000"/>
  <p:notesSz cx="6858000" cy="9144000"/>
  <p:embeddedFontLst>
    <p:embeddedFont>
      <p:font typeface="Nyutro Sans Heavy"/>
      <p:bold r:id="rId20"/>
    </p:embeddedFont>
    <p:embeddedFont>
      <p:font typeface="Nyutro Sans"/>
      <p:regular r:id="rId21"/>
    </p:embeddedFont>
    <p:embeddedFont>
      <p:font typeface="Nyutro Sans Bold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0" d="100"/>
          <a:sy n="30" d="100"/>
        </p:scale>
        <p:origin x="-1572" y="-5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10283443"/>
            <a:chOff x="0" y="0"/>
            <a:chExt cx="1863593" cy="2782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3594" cy="2782840"/>
            </a:xfrm>
            <a:custGeom>
              <a:avLst/>
              <a:gdLst/>
              <a:ahLst/>
              <a:cxnLst/>
              <a:rect l="l" t="t" r="r" b="b"/>
              <a:pathLst>
                <a:path w="1863594" h="2782840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1"/>
              <a:stretch>
                <a:fillRect t="-162" b="-16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639318" y="666750"/>
            <a:ext cx="3060895" cy="892174"/>
          </a:xfrm>
          <a:custGeom>
            <a:avLst/>
            <a:gdLst/>
            <a:ahLst/>
            <a:cxnLst/>
            <a:rect l="l" t="t" r="r" b="b"/>
            <a:pathLst>
              <a:path w="3060895" h="892174">
                <a:moveTo>
                  <a:pt x="0" y="0"/>
                </a:moveTo>
                <a:lnTo>
                  <a:pt x="3060895" y="0"/>
                </a:lnTo>
                <a:lnTo>
                  <a:pt x="3060895" y="892174"/>
                </a:lnTo>
                <a:lnTo>
                  <a:pt x="0" y="892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69" r="-12659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39318" y="3368532"/>
            <a:ext cx="10095357" cy="5344539"/>
            <a:chOff x="0" y="-19049"/>
            <a:chExt cx="13460476" cy="7126051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49"/>
              <a:ext cx="13460476" cy="45140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13200"/>
                </a:lnSpc>
              </a:pPr>
              <a:r>
                <a:rPr lang="en-US" sz="13200" b="1" spc="-132" dirty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Portfolio </a:t>
              </a:r>
              <a:r>
                <a:rPr lang="en-US" sz="13200" b="1" spc="-132" dirty="0" err="1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Cybersecurity</a:t>
              </a:r>
              <a:endParaRPr lang="en-US" sz="13200" b="1" spc="-132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023782"/>
              <a:ext cx="9182100" cy="208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50000"/>
                </a:lnSpc>
              </a:pPr>
              <a:r>
                <a:rPr lang="en-US" sz="3600" spc="-60" dirty="0" smtClean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Dimas </a:t>
              </a:r>
              <a:r>
                <a:rPr lang="en-US" sz="3600" spc="-60" dirty="0" err="1" smtClean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Jayusman</a:t>
              </a:r>
              <a:endParaRPr lang="en-US" sz="3600" spc="-60" dirty="0"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  <a:p>
              <a:pPr marL="0" lvl="0" indent="0" algn="l">
                <a:lnSpc>
                  <a:spcPct val="150000"/>
                </a:lnSpc>
              </a:pPr>
              <a:r>
                <a:rPr lang="en-US" sz="3600" spc="-60" dirty="0" smtClean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Role </a:t>
              </a:r>
              <a:r>
                <a:rPr lang="en-US" sz="3600" spc="-6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: </a:t>
              </a:r>
              <a:r>
                <a:rPr lang="en-US" sz="3600" spc="-6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Cybersecurity</a:t>
              </a:r>
              <a:r>
                <a:rPr lang="en-US" sz="3600" spc="-6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3600" spc="-60" dirty="0" smtClean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Analyst</a:t>
              </a:r>
              <a:endParaRPr lang="en-US" sz="3600" spc="-60" dirty="0"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299918"/>
            <a:ext cx="13030200" cy="5382046"/>
            <a:chOff x="-18474" y="-489109"/>
            <a:chExt cx="14828824" cy="7176061"/>
          </a:xfrm>
        </p:grpSpPr>
        <p:sp>
          <p:nvSpPr>
            <p:cNvPr id="3" name="TextBox 3"/>
            <p:cNvSpPr txBox="1"/>
            <p:nvPr/>
          </p:nvSpPr>
          <p:spPr>
            <a:xfrm>
              <a:off x="-18474" y="2180932"/>
              <a:ext cx="14828824" cy="45060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sz="3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I am an IT professional with over 3 years of experience in system engineering and API architecture, currently advancing my career in </a:t>
              </a:r>
              <a:r>
                <a:rPr lang="en-US" sz="3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cybersecurity</a:t>
              </a:r>
              <a:r>
                <a:rPr lang="en-US" sz="3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. I possess a balanced skill set in both offensive and defensive security, with hands-on experience in vulnerability assessment, penetration testing, and digital forensics to ensure robust enterprise security.</a:t>
              </a:r>
              <a:endParaRPr lang="en-US" sz="3000" dirty="0"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89109"/>
              <a:ext cx="11596046" cy="1423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 dirty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About Me</a:t>
              </a:r>
              <a:endParaRPr lang="en-US" sz="9000" b="1" u="none" strike="noStrike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" y="1242644"/>
              <a:ext cx="11596045" cy="5738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2800" b="1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Background in </a:t>
              </a:r>
              <a:r>
                <a:rPr lang="en-US" sz="2800" b="1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Cybersecurity</a:t>
              </a:r>
              <a:endParaRPr lang="en-US" sz="28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4799" y="5966993"/>
            <a:ext cx="639165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-30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Education </a:t>
            </a:r>
            <a:r>
              <a:rPr lang="en-US" sz="2800" b="1" spc="-30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Background</a:t>
            </a:r>
            <a:endParaRPr lang="en-US" sz="3000" b="1" spc="-30" dirty="0">
              <a:latin typeface="Times New Roman" panose="02020603050405020304" pitchFamily="18" charset="0"/>
              <a:ea typeface="Nyutro Sans Heavy"/>
              <a:cs typeface="Times New Roman" panose="02020603050405020304" pitchFamily="18" charset="0"/>
              <a:sym typeface="Nyutro Sans Heav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335000" y="6214284"/>
            <a:ext cx="4544888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2600" b="1" spc="-30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LinkedIn : </a:t>
            </a:r>
            <a:r>
              <a:rPr lang="en-US" sz="2600" spc="-30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https://www.linkedin.com/in/dimas-jayusman-210188218/</a:t>
            </a:r>
            <a:endParaRPr lang="en-US" sz="2600" spc="-30" dirty="0">
              <a:latin typeface="Times New Roman" panose="02020603050405020304" pitchFamily="18" charset="0"/>
              <a:ea typeface="Nyutro Sans Heavy"/>
              <a:cs typeface="Times New Roman" panose="02020603050405020304" pitchFamily="18" charset="0"/>
              <a:sym typeface="Nyutro Sans Heavy"/>
            </a:endParaRPr>
          </a:p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2600" b="1" spc="-30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Email </a:t>
            </a:r>
            <a:r>
              <a:rPr lang="en-US" sz="2600" b="1" spc="-30" dirty="0" smtClean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: </a:t>
            </a:r>
            <a:endParaRPr lang="en-US" sz="2600" b="1" spc="-30" dirty="0">
              <a:latin typeface="Times New Roman" panose="02020603050405020304" pitchFamily="18" charset="0"/>
              <a:ea typeface="Nyutro Sans Heavy"/>
              <a:cs typeface="Times New Roman" panose="02020603050405020304" pitchFamily="18" charset="0"/>
              <a:sym typeface="Nyutro Sans Heavy"/>
            </a:endParaRPr>
          </a:p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2600" spc="-30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dimasjayusman8@gmail.com</a:t>
            </a:r>
            <a:endParaRPr lang="en-US" sz="2600" spc="-30" dirty="0">
              <a:latin typeface="Times New Roman" panose="02020603050405020304" pitchFamily="18" charset="0"/>
              <a:ea typeface="Nyutro Sans Heavy"/>
              <a:cs typeface="Times New Roman" panose="02020603050405020304" pitchFamily="18" charset="0"/>
              <a:sym typeface="Nyutro Sans Heavy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4716878" y="9288507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  <p:sp>
        <p:nvSpPr>
          <p:cNvPr id="16" name="Rectangle 15"/>
          <p:cNvSpPr/>
          <p:nvPr/>
        </p:nvSpPr>
        <p:spPr>
          <a:xfrm>
            <a:off x="304799" y="6642156"/>
            <a:ext cx="12573001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Bootcamp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(Batch 5) - dibimbing.id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&amp; Projects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Appication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 at PT Bank Tabungan Negara (BTN) (April 2025 - Present)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Scaning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SAST/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DAST,Vulnerable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1496" y="338018"/>
            <a:ext cx="4485039" cy="53820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8100" y="3177360"/>
            <a:ext cx="12611100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Web Application Penetration Testing</a:t>
            </a:r>
            <a:endParaRPr lang="en-US" sz="2800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Vulnerability 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Assessment &amp; Remediation</a:t>
            </a:r>
            <a:endParaRPr lang="en-US" sz="2800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Digital 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Forensics &amp; Incident Response</a:t>
            </a:r>
            <a:endParaRPr lang="en-US" sz="2800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SIEM 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Analysis (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Wazuh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) &amp; Threat Hunting</a:t>
            </a:r>
            <a:endParaRPr lang="en-US" sz="2800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Reconnaissance 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Automation</a:t>
            </a:r>
            <a:endParaRPr lang="en-US" sz="2800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marL="539750" lvl="1" indent="-269875" algn="just">
              <a:buFont typeface="Arial" panose="020B0604020202020204"/>
              <a:buChar char="•"/>
            </a:pPr>
            <a:endParaRPr lang="en-US" sz="2800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marL="539750" lvl="1" indent="-269875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Dengan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pengalaman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teknis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di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bidang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infrastruktur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IT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keamanan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siber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saya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memiliki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kemampuan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komprehensif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dalam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sisi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offensive (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mengidentifikasi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mengeksploitasi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kerentanan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web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seperti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SQLi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&amp; XSS)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maupun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sisi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defensive (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korelasi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log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mitigasi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ancaman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)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untuk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memastikan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postur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keamanan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sistem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perusahaan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tetap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tangguh</a:t>
            </a:r>
            <a:r>
              <a:rPr lang="en-US" sz="28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.</a:t>
            </a:r>
            <a:endParaRPr lang="en-US" sz="2800" u="none" strike="noStrike" dirty="0"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80998" y="0"/>
            <a:ext cx="6886575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  <a:tabLst>
                <a:tab pos="1714500" algn="l"/>
              </a:tabLst>
            </a:pPr>
            <a:r>
              <a:rPr lang="en-US" sz="9000" b="1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Experience Related Field</a:t>
            </a:r>
            <a:endParaRPr lang="en-US" sz="9000" b="1" spc="-89" dirty="0">
              <a:latin typeface="Times New Roman" panose="02020603050405020304" pitchFamily="18" charset="0"/>
              <a:ea typeface="Nyutro Sans Heavy"/>
              <a:cs typeface="Times New Roman" panose="02020603050405020304" pitchFamily="18" charset="0"/>
              <a:sym typeface="Nyutro Sans Heavy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3030204" y="1943128"/>
            <a:ext cx="4884972" cy="6042011"/>
            <a:chOff x="0" y="0"/>
            <a:chExt cx="2576171" cy="27707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172" cy="2770723"/>
            </a:xfrm>
            <a:custGeom>
              <a:avLst/>
              <a:gdLst/>
              <a:ahLst/>
              <a:cxnLst/>
              <a:rect l="l" t="t" r="r" b="b"/>
              <a:pathLst>
                <a:path w="2576172" h="2770723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1"/>
              <a:stretch>
                <a:fillRect t="-258" b="-25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69" r="-12659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48915" y="156082"/>
            <a:ext cx="11201400" cy="1713099"/>
            <a:chOff x="0" y="156533"/>
            <a:chExt cx="14935200" cy="2284132"/>
          </a:xfrm>
        </p:grpSpPr>
        <p:sp>
          <p:nvSpPr>
            <p:cNvPr id="7" name="TextBox 7"/>
            <p:cNvSpPr txBox="1"/>
            <p:nvPr/>
          </p:nvSpPr>
          <p:spPr>
            <a:xfrm>
              <a:off x="0" y="156533"/>
              <a:ext cx="14897100" cy="1423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spc="-89" dirty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Overview </a:t>
              </a:r>
              <a:r>
                <a:rPr lang="en-US" sz="9000" b="1" u="none" strike="noStrike" spc="-89" dirty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Projects</a:t>
              </a:r>
              <a:endParaRPr lang="en-US" sz="9000" b="1" u="none" strike="noStrike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773816"/>
              <a:ext cx="14935200" cy="666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Overview Project</a:t>
              </a:r>
              <a:endParaRPr lang="en-US" sz="30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993480" y="1548443"/>
            <a:ext cx="11901488" cy="400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500" b="1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Proyek</a:t>
            </a:r>
            <a:r>
              <a:rPr lang="en-US" sz="25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1 – Web Application Penetration Testing</a:t>
            </a:r>
            <a:endParaRPr lang="en-US" sz="2500" b="1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algn="just">
              <a:spcBef>
                <a:spcPct val="0"/>
              </a:spcBef>
            </a:pPr>
            <a:endParaRPr lang="en-US" sz="2400" b="1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200" b="1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Tujuan</a:t>
            </a:r>
            <a:r>
              <a:rPr lang="en-US" sz="22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Melakukan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simulasi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serangan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untuk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mengevaluasi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postur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keamanan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aplikasi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web dibishop.duckdns.org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memberikan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rekomendasi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remediasi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.  </a:t>
            </a:r>
            <a:endParaRPr lang="en-US" sz="2200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200" b="1" dirty="0" err="1" smtClean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Analisis</a:t>
            </a:r>
            <a:r>
              <a:rPr lang="en-US" sz="22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Pengujian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keamanan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dari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perspektif</a:t>
            </a:r>
            <a:r>
              <a:rPr lang="en-US" sz="2200" dirty="0" smtClean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attacker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pada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role Unauthenticated Guest, User,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Admin.  </a:t>
            </a:r>
            <a:endParaRPr lang="en-US" sz="2200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200" b="1" dirty="0" err="1" smtClean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Hasil</a:t>
            </a:r>
            <a:r>
              <a:rPr lang="en-US" sz="22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Ditemukan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12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kerentanan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yang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terklasifikasi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ke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dalam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6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kategori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risiko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termasuk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kerentanan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kritis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seperti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Stored XSS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dan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manipulasi</a:t>
            </a:r>
            <a:r>
              <a:rPr lang="en-US" sz="22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 database.  </a:t>
            </a:r>
            <a:endParaRPr lang="en-US" sz="2200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200" b="1" dirty="0" err="1" smtClean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Teknologi</a:t>
            </a:r>
            <a:r>
              <a:rPr lang="en-US" sz="22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: </a:t>
            </a:r>
            <a:r>
              <a:rPr lang="en-US" sz="2200" b="1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Nmap</a:t>
            </a:r>
            <a:r>
              <a:rPr lang="en-US" sz="22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, Burp Suite, </a:t>
            </a:r>
            <a:r>
              <a:rPr lang="en-US" sz="2200" b="1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SqlMap</a:t>
            </a:r>
            <a:r>
              <a:rPr lang="en-US" sz="22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, </a:t>
            </a:r>
            <a:r>
              <a:rPr lang="en-US" sz="2200" b="1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Censys</a:t>
            </a:r>
            <a:r>
              <a:rPr lang="en-US" sz="22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, </a:t>
            </a:r>
            <a:r>
              <a:rPr lang="en-US" sz="2200" b="1" dirty="0" err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Wappalyzer</a:t>
            </a:r>
            <a:r>
              <a:rPr lang="en-US" sz="22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. </a:t>
            </a:r>
            <a:endParaRPr lang="en-US" sz="2200" dirty="0">
              <a:latin typeface="Times New Roman" panose="02020603050405020304" pitchFamily="18" charset="0"/>
              <a:ea typeface="Nyutro Sans"/>
              <a:cs typeface="Times New Roman" panose="02020603050405020304" pitchFamily="18" charset="0"/>
              <a:sym typeface="Nyutro Sans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3324511"/>
            <a:ext cx="5119937" cy="15903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791200"/>
            <a:ext cx="3733800" cy="40880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Rectangle 15"/>
          <p:cNvSpPr/>
          <p:nvPr/>
        </p:nvSpPr>
        <p:spPr>
          <a:xfrm>
            <a:off x="5935327" y="5636739"/>
            <a:ext cx="12282488" cy="4608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– 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Investigasi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Forensik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investigasi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forensik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production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merespons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indikasi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intrusi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pihak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eksternal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Ekstraksi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korelasi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 Log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konfigurasi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server, log database (MySQL),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tinjauan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pemindaian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SAST.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Hasi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Teridentifikasi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SSH Brute-Force,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percobaan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eksploitasi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(RCE/LFI),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absennya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firewall (UFW).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SIEM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Terminal Linux/SSH, Static Application Security Testing (SAST).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9817" y="842726"/>
            <a:ext cx="11218333" cy="1687787"/>
            <a:chOff x="-22577" y="234635"/>
            <a:chExt cx="14957777" cy="2250382"/>
          </a:xfrm>
        </p:grpSpPr>
        <p:sp>
          <p:nvSpPr>
            <p:cNvPr id="3" name="TextBox 3"/>
            <p:cNvSpPr txBox="1"/>
            <p:nvPr/>
          </p:nvSpPr>
          <p:spPr>
            <a:xfrm>
              <a:off x="-22577" y="234635"/>
              <a:ext cx="14897100" cy="1399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spc="-89" dirty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Scope &amp; Objective</a:t>
              </a:r>
              <a:endParaRPr lang="en-US" sz="9000" b="1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73816"/>
              <a:ext cx="14935200" cy="711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</a:p>
          </p:txBody>
        </p:sp>
      </p:grpSp>
      <p:sp>
        <p:nvSpPr>
          <p:cNvPr id="9" name="AutoShape 9"/>
          <p:cNvSpPr/>
          <p:nvPr/>
        </p:nvSpPr>
        <p:spPr>
          <a:xfrm flipH="1">
            <a:off x="8641097" y="2667567"/>
            <a:ext cx="0" cy="71672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  <p:sp>
        <p:nvSpPr>
          <p:cNvPr id="11" name="Rectangle 10"/>
          <p:cNvSpPr/>
          <p:nvPr/>
        </p:nvSpPr>
        <p:spPr>
          <a:xfrm>
            <a:off x="203200" y="2755919"/>
            <a:ext cx="8068733" cy="7078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Project 1 – Web Application Penetration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Fokus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URL target http://dibishop.duckdns.org/ yang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mencakup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 Unauthenticated Guest, User,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pemindaian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aktif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eksploitasi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manual.  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Project 1 – Web Application Penetration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memvalidasi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mendemonstrasikan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dampak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eksploitasi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kerentanan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Injection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XSS)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remediasi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ditindaklanjuti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915400" y="2625801"/>
            <a:ext cx="8991600" cy="7463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Project 2 – Incident Response &amp; Threat Analysis (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Fokus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 server web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terkait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intrusi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jaringan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pemindaian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kerentanan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miskonfigurasi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korelasi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SIEM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rentang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 Mei 2026.  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Project 2 – Incident Response &amp; Threat Analysis (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Membedah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insiden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siber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komprehensif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vektor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mengevaluasi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kelemahan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(Defense in Depth),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merumuskan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mitigasi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(hardening).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487349"/>
            <a:ext cx="12813428" cy="1879440"/>
            <a:chOff x="-482600" y="76200"/>
            <a:chExt cx="17084570" cy="2505920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6601970" cy="1384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8100"/>
                </a:lnSpc>
                <a:spcBef>
                  <a:spcPct val="0"/>
                </a:spcBef>
              </a:pPr>
              <a:r>
                <a:rPr lang="en-US" sz="7000" b="1" spc="-89" dirty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Project 1 - </a:t>
              </a:r>
              <a:r>
                <a:rPr lang="en-US" sz="7000" b="1" spc="-89" dirty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Web App </a:t>
              </a:r>
              <a:r>
                <a:rPr lang="en-US" sz="7000" b="1" spc="-89" dirty="0" err="1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Pentesting</a:t>
              </a:r>
              <a:endParaRPr lang="en-US" sz="7000" b="1" u="none" strike="noStrike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482600" y="2000251"/>
              <a:ext cx="16553379" cy="581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Red Team</a:t>
              </a:r>
              <a:endParaRPr lang="en-US" sz="30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72483" y="2568561"/>
            <a:ext cx="9491488" cy="3852075"/>
            <a:chOff x="0" y="-57150"/>
            <a:chExt cx="12655318" cy="5136100"/>
          </a:xfrm>
        </p:grpSpPr>
        <p:sp>
          <p:nvSpPr>
            <p:cNvPr id="6" name="TextBox 6"/>
            <p:cNvSpPr txBox="1"/>
            <p:nvPr/>
          </p:nvSpPr>
          <p:spPr>
            <a:xfrm>
              <a:off x="0" y="959275"/>
              <a:ext cx="12655318" cy="4119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Melakukan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simulasi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serangan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(penetration testing)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dari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perspektif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attacker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untuk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mengevaluasi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postur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keamanan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aplikasi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web. 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Mengidentifikasi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,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memvalidasi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,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mendemonstrasikan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dampak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eksploitasi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dari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kerentanan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spesifik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,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seperti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manipulasi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database (SQL Injection)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eksekusi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skrip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sisi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klien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. 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Mengevaluasi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risiko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keamanan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sistem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menggunakan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matriks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penilaian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tingkat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keparahan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CVSS V3.1. 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Memberikan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rekomendasi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remediasi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yang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komprehensif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dapat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ditindaklanjuti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oleh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tim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pengembang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untuk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menutup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celah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keamanan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yang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ditemukan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.  Scope &amp; </a:t>
              </a:r>
              <a:r>
                <a:rPr lang="en-US" sz="2000" dirty="0" smtClean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Objective.</a:t>
              </a:r>
              <a:endParaRPr lang="en-US" sz="2000" u="none" strike="noStrike" dirty="0"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655318" cy="581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Tujuan</a:t>
              </a:r>
              <a:r>
                <a:rPr lang="en-US" sz="3000" b="1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3000" b="1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Simulasi</a:t>
              </a:r>
              <a:endParaRPr lang="en-US" sz="30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0933" y="6334133"/>
            <a:ext cx="16877177" cy="3679135"/>
            <a:chOff x="-347747" y="-933811"/>
            <a:chExt cx="22502902" cy="4905513"/>
          </a:xfrm>
        </p:grpSpPr>
        <p:sp>
          <p:nvSpPr>
            <p:cNvPr id="9" name="TextBox 9"/>
            <p:cNvSpPr txBox="1"/>
            <p:nvPr/>
          </p:nvSpPr>
          <p:spPr>
            <a:xfrm>
              <a:off x="-347747" y="-147974"/>
              <a:ext cx="22457746" cy="4119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Ruang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Lingkup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: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Pengujian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dilakukan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pada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target URL [http://dibishop.duckdns.org/](http://dibishop.duckdns.org/) (IP: 188.166.209.84),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mencakup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evaluasi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pada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batasan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akses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untuk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role Unauthenticated Guest, User,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Admin.</a:t>
              </a:r>
              <a:endParaRPr lang="en-US" sz="20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  <a:p>
              <a:pPr lvl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Fokus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: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Pelaksanaan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scanning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aktif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menggunakan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Nmap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Burp Suite,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eksploitasi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manual,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serta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penyusunan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Proof of Concept (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PoC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)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tanpa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melakukan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Denial of Service (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DoS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)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atau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perusakan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data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permanen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.</a:t>
              </a:r>
              <a:endParaRPr lang="en-US" sz="20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  <a:p>
              <a:pPr lvl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Latar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Belakang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Simulasi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: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Bertindak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sebagai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penguji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keamanan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offensif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untuk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mengevaluasi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ketahanan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aplikasi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web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terhadap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serangan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dengan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tujuan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: 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Mengidentifikasi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kerentanan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yang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berisiko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menyebabkan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pencurian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data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sensitif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(data breach)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kerugian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finansial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langsung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. 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Menilai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potensi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ancaman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pengambilalihan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sesi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pengguna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sah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atau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pembajakan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akses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panel admin. 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Memberikan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saran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perbaikan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taktis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dan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strategis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untuk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memitigasi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risiko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secara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efektif</a:t>
              </a:r>
              <a:r>
                <a:rPr lang="en-US" sz="20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. </a:t>
              </a:r>
              <a:endParaRPr lang="en-US" sz="2000" u="none" strike="noStrike" dirty="0"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302591" y="-933811"/>
              <a:ext cx="22457746" cy="581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Scope &amp; Objective</a:t>
              </a:r>
              <a:endParaRPr lang="en-US" sz="30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4800" y="2787637"/>
            <a:ext cx="7219950" cy="3279053"/>
            <a:chOff x="0" y="-57149"/>
            <a:chExt cx="9144000" cy="4372069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93700"/>
              <a:ext cx="9144000" cy="3521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Pada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bulan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April 2026,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dilakukan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pengujian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keamanan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ofensif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(penetration testing)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secara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proaktif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pada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platform e-commerce dibishop.duckdns.org.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Pengujian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ini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dilakukan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untuk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mengidentifikasi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celah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keamanan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pada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arsitektur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web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sebelum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dieksploitasi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oleh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pihak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yang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tidak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bertanggung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jawab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,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guna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memastikan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perlindungan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aset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perusahaan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privasi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pengguna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dari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ancaman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siber</a:t>
              </a:r>
              <a:r>
                <a:rPr lang="en-US" sz="20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. </a:t>
              </a:r>
              <a:endParaRPr lang="en-US" sz="2000" u="none" strike="noStrike" dirty="0"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49"/>
              <a:ext cx="9144000" cy="581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Latar Belakang</a:t>
              </a:r>
              <a:endParaRPr lang="en-US" sz="3000" b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66749" y="509327"/>
            <a:ext cx="13948833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8100"/>
              </a:lnSpc>
              <a:spcBef>
                <a:spcPct val="0"/>
              </a:spcBef>
            </a:pPr>
            <a:r>
              <a:rPr lang="en-US" sz="7000" b="1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P</a:t>
            </a:r>
            <a:r>
              <a:rPr lang="en-US" sz="7000" b="1" u="none" strike="noStrike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roject 1 - </a:t>
            </a:r>
            <a:r>
              <a:rPr lang="en-US" sz="7000" b="1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Web App </a:t>
            </a:r>
            <a:r>
              <a:rPr lang="en-US" sz="7000" b="1" spc="-89" dirty="0" err="1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Pentesting</a:t>
            </a:r>
            <a:endParaRPr lang="en-US" sz="7000" b="1" spc="-89" dirty="0">
              <a:latin typeface="Times New Roman" panose="02020603050405020304" pitchFamily="18" charset="0"/>
              <a:ea typeface="Nyutro Sans Heavy"/>
              <a:cs typeface="Times New Roman" panose="02020603050405020304" pitchFamily="18" charset="0"/>
              <a:sym typeface="Nyutro Sans Heavy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  <p:sp>
        <p:nvSpPr>
          <p:cNvPr id="14" name="Rectangle 13"/>
          <p:cNvSpPr/>
          <p:nvPr/>
        </p:nvSpPr>
        <p:spPr>
          <a:xfrm>
            <a:off x="666750" y="1844680"/>
            <a:ext cx="2194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Environment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33815" y="8496300"/>
            <a:ext cx="52566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Kali Linux, Burp Suite,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Wireshark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Public web application (User &amp; Admin)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31" y="2552700"/>
            <a:ext cx="8305800" cy="55372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3187700"/>
            <a:ext cx="8507563" cy="4267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66750" y="742950"/>
            <a:ext cx="16954500" cy="106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spc="-89" dirty="0" smtClean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Main Findings</a:t>
            </a:r>
            <a:endParaRPr lang="en-US" sz="9000" b="1" spc="-89" dirty="0">
              <a:latin typeface="Times New Roman" panose="02020603050405020304" pitchFamily="18" charset="0"/>
              <a:ea typeface="Nyutro Sans Heavy"/>
              <a:cs typeface="Times New Roman" panose="02020603050405020304" pitchFamily="18" charset="0"/>
              <a:sym typeface="Nyutro Sans Heavy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77343" y="4541271"/>
            <a:ext cx="4000560" cy="3896043"/>
            <a:chOff x="0" y="0"/>
            <a:chExt cx="5334079" cy="5194723"/>
          </a:xfrm>
        </p:grpSpPr>
        <p:sp>
          <p:nvSpPr>
            <p:cNvPr id="8" name="TextBox 8"/>
            <p:cNvSpPr txBox="1"/>
            <p:nvPr/>
          </p:nvSpPr>
          <p:spPr>
            <a:xfrm>
              <a:off x="0" y="47625"/>
              <a:ext cx="5334079" cy="1523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80"/>
                </a:lnSpc>
              </a:pPr>
              <a:r>
                <a:rPr lang="en-US" sz="4425" b="1" spc="-44">
                  <a:solidFill>
                    <a:srgbClr val="F5F8F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Waktu Gagal Login pertama</a:t>
              </a:r>
              <a:endParaRPr lang="en-US" sz="4425" b="1" spc="-44">
                <a:solidFill>
                  <a:srgbClr val="F5F8FA"/>
                </a:solidFill>
                <a:latin typeface="Nyutro Sans Bold"/>
                <a:ea typeface="Nyutro Sans Bold"/>
                <a:cs typeface="Nyutro Sans Bold"/>
                <a:sym typeface="Nyutro Sa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3577" y="1678940"/>
              <a:ext cx="4486925" cy="3515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2500">
                  <a:solidFill>
                    <a:srgbClr val="F5F8F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Berdasarkan hasil analisis log sistem, tercatat bahwa upaya login terakhir yang gagal terjadi pada pukul 11:39:31</a:t>
              </a:r>
              <a:endParaRPr lang="en-US" sz="2500">
                <a:solidFill>
                  <a:srgbClr val="F5F8FA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338" y="2247900"/>
            <a:ext cx="11810999" cy="7818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886200"/>
            <a:ext cx="5448300" cy="5372100"/>
            <a:chOff x="0" y="0"/>
            <a:chExt cx="844084" cy="832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4084" cy="832279"/>
            </a:xfrm>
            <a:custGeom>
              <a:avLst/>
              <a:gdLst/>
              <a:ahLst/>
              <a:cxnLst/>
              <a:rect l="l" t="t" r="r" b="b"/>
              <a:pathLst>
                <a:path w="844084" h="832279">
                  <a:moveTo>
                    <a:pt x="35524" y="0"/>
                  </a:moveTo>
                  <a:lnTo>
                    <a:pt x="808560" y="0"/>
                  </a:lnTo>
                  <a:cubicBezTo>
                    <a:pt x="828179" y="0"/>
                    <a:pt x="844084" y="15905"/>
                    <a:pt x="844084" y="35524"/>
                  </a:cubicBezTo>
                  <a:lnTo>
                    <a:pt x="844084" y="796754"/>
                  </a:lnTo>
                  <a:cubicBezTo>
                    <a:pt x="844084" y="816374"/>
                    <a:pt x="828179" y="832279"/>
                    <a:pt x="808560" y="832279"/>
                  </a:cubicBezTo>
                  <a:lnTo>
                    <a:pt x="35524" y="832279"/>
                  </a:lnTo>
                  <a:cubicBezTo>
                    <a:pt x="15905" y="832279"/>
                    <a:pt x="0" y="816374"/>
                    <a:pt x="0" y="796754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blipFill>
              <a:blip r:embed="rId1"/>
              <a:stretch>
                <a:fillRect l="-178" r="-1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723900"/>
            <a:ext cx="16954500" cy="2732980"/>
            <a:chOff x="0" y="76200"/>
            <a:chExt cx="22606000" cy="3643974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22548332" cy="2769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100"/>
                </a:lnSpc>
                <a:spcBef>
                  <a:spcPct val="0"/>
                </a:spcBef>
              </a:pPr>
              <a:r>
                <a:rPr lang="nn-NO" sz="8000" b="1" spc="-89" dirty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Project 2 - Investigasi </a:t>
              </a:r>
              <a:endParaRPr lang="nn-NO" sz="8000" b="1" spc="-89" dirty="0" smtClean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endParaRPr>
            </a:p>
            <a:p>
              <a:pPr lvl="0">
                <a:lnSpc>
                  <a:spcPts val="8100"/>
                </a:lnSpc>
                <a:spcBef>
                  <a:spcPct val="0"/>
                </a:spcBef>
              </a:pPr>
              <a:r>
                <a:rPr lang="nn-NO" sz="8000" b="1" spc="-89" dirty="0" smtClean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Forensik </a:t>
              </a:r>
              <a:r>
                <a:rPr lang="nn-NO" sz="8000" b="1" spc="-89" dirty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Digital</a:t>
              </a:r>
              <a:endParaRPr lang="en-US" sz="8000" b="1" u="none" strike="noStrike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164466"/>
              <a:ext cx="226060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2500" b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Blue Team</a:t>
              </a:r>
              <a:endParaRPr lang="en-US" sz="2500" b="1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82370" y="6605587"/>
            <a:ext cx="11443023" cy="3477141"/>
            <a:chOff x="0" y="-57150"/>
            <a:chExt cx="15257364" cy="4636187"/>
          </a:xfrm>
        </p:grpSpPr>
        <p:sp>
          <p:nvSpPr>
            <p:cNvPr id="8" name="TextBox 8"/>
            <p:cNvSpPr txBox="1"/>
            <p:nvPr/>
          </p:nvSpPr>
          <p:spPr>
            <a:xfrm>
              <a:off x="24524" y="988311"/>
              <a:ext cx="15232840" cy="35907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Ruang</a:t>
              </a:r>
              <a:r>
                <a:rPr lang="en-US" sz="2500" b="1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b="1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Lingkup</a:t>
              </a:r>
              <a:r>
                <a:rPr lang="en-US" sz="2500" b="1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: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Analisis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endpoint server web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dan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database,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mencakup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alert SIEM (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Wazuh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), log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autentikasi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SSH, log server Apache, log MySQL,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dan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laporan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SAST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dengan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rentang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waktu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hingga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24 Mei 2026.</a:t>
              </a:r>
              <a:endParaRPr lang="en-US" sz="2500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  <a:p>
              <a:pPr lvl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Fokus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: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Deteksi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,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analisis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,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dan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dokumentasi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insiden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dari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perspektif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Blue Team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untuk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membedah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vektor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ancaman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(brute-force &amp; RCE),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mengevaluasi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kegagalan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arsitektur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Defense in Depth,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serta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merumuskan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strategi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mitigasi</a:t>
              </a:r>
              <a:r>
                <a:rPr lang="en-US" sz="2500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(hardening). </a:t>
              </a:r>
              <a:endParaRPr lang="en-US" sz="2500" u="none" strike="noStrike" dirty="0"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4851840" cy="589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Scope &amp; Objective</a:t>
              </a:r>
              <a:endParaRPr lang="en-US" sz="30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82370" y="3187164"/>
            <a:ext cx="9291030" cy="3961973"/>
            <a:chOff x="0" y="-57149"/>
            <a:chExt cx="9144000" cy="528263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085800"/>
              <a:ext cx="9144000" cy="4139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3500"/>
                </a:lnSpc>
                <a:spcBef>
                  <a:spcPct val="0"/>
                </a:spcBef>
              </a:pP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Pada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bulan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Mei 2026,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dilakukan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investigasi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forensik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digital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pada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server production dibishop.duckdns.org.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Analisis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ini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dipicu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oleh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indikasi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serangan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aktif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eksternal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,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menggunakan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korelasi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log SIEM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Wazuh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dan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ekstraksi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konfigurasi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sistem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untuk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mengidentifikasi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intrusi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jaringan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serta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miskonfigurasi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</a:t>
              </a:r>
              <a:r>
                <a:rPr lang="en-US" sz="2500" dirty="0" err="1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kritis</a:t>
              </a:r>
              <a:r>
                <a:rPr lang="en-US" sz="2500" dirty="0"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. </a:t>
              </a:r>
              <a:endParaRPr lang="en-US" sz="2500" u="none" strike="noStrike" dirty="0"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49"/>
              <a:ext cx="9144000" cy="581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Latar</a:t>
              </a:r>
              <a:r>
                <a:rPr lang="en-US" sz="3000" b="1" dirty="0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 </a:t>
              </a:r>
              <a:r>
                <a:rPr lang="en-US" sz="3000" b="1" dirty="0" err="1"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Belakang</a:t>
              </a:r>
              <a:endParaRPr lang="en-US" sz="3000" b="1" dirty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69" r="-12659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66749" y="509327"/>
            <a:ext cx="15182851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100"/>
              </a:lnSpc>
              <a:spcBef>
                <a:spcPct val="0"/>
              </a:spcBef>
            </a:pPr>
            <a:r>
              <a:rPr lang="en-US" sz="6600" b="1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P</a:t>
            </a:r>
            <a:r>
              <a:rPr lang="en-US" sz="6600" b="1" u="none" strike="noStrike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roject </a:t>
            </a:r>
            <a:r>
              <a:rPr lang="en-US" sz="6600" b="1" u="none" strike="noStrike" spc="-89" dirty="0" smtClean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2 </a:t>
            </a:r>
            <a:r>
              <a:rPr lang="en-US" sz="6600" b="1" u="none" strike="noStrike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- </a:t>
            </a:r>
            <a:r>
              <a:rPr lang="nn-NO" sz="6600" b="1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Investigasi </a:t>
            </a:r>
            <a:r>
              <a:rPr lang="nn-NO" sz="6600" b="1" spc="-89" dirty="0" smtClean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Forensik </a:t>
            </a:r>
            <a:r>
              <a:rPr lang="nn-NO" sz="6600" b="1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Digital</a:t>
            </a:r>
            <a:endParaRPr lang="en-US" sz="6600" b="1" spc="-89" dirty="0">
              <a:latin typeface="Times New Roman" panose="02020603050405020304" pitchFamily="18" charset="0"/>
              <a:ea typeface="Nyutro Sans Heavy"/>
              <a:cs typeface="Times New Roman" panose="02020603050405020304" pitchFamily="18" charset="0"/>
              <a:sym typeface="Nyutro Sans Heavy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  <p:sp>
        <p:nvSpPr>
          <p:cNvPr id="14" name="Rectangle 13"/>
          <p:cNvSpPr/>
          <p:nvPr/>
        </p:nvSpPr>
        <p:spPr>
          <a:xfrm>
            <a:off x="666750" y="1844680"/>
            <a:ext cx="2194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Environment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70554" y="9142631"/>
            <a:ext cx="77831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AbuseIPDB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Linux public-facing server, Apache &amp; SSH services,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Wazuh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193382"/>
            <a:ext cx="8490927" cy="5138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080" y="2995863"/>
            <a:ext cx="8603519" cy="55331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02663" y="503908"/>
            <a:ext cx="14077950" cy="1049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 dirty="0" smtClean="0"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rPr>
              <a:t>Timeline</a:t>
            </a:r>
            <a:endParaRPr lang="en-US" sz="9000" b="1" u="none" strike="noStrike" spc="-89" dirty="0">
              <a:latin typeface="Times New Roman" panose="02020603050405020304" pitchFamily="18" charset="0"/>
              <a:ea typeface="Nyutro Sans Bold"/>
              <a:cs typeface="Times New Roman" panose="02020603050405020304" pitchFamily="18" charset="0"/>
              <a:sym typeface="Nyutro Sa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866900"/>
            <a:ext cx="8277225" cy="794279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66750" y="2050436"/>
            <a:ext cx="16954500" cy="106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spc="-89" dirty="0" smtClean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Main Findings</a:t>
            </a:r>
            <a:endParaRPr lang="en-US" sz="9000" b="1" spc="-89" dirty="0">
              <a:latin typeface="Times New Roman" panose="02020603050405020304" pitchFamily="18" charset="0"/>
              <a:ea typeface="Nyutro Sans Heavy"/>
              <a:cs typeface="Times New Roman" panose="02020603050405020304" pitchFamily="18" charset="0"/>
              <a:sym typeface="Nyutro Sans Heavy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77343" y="4541271"/>
            <a:ext cx="4000560" cy="3896043"/>
            <a:chOff x="0" y="0"/>
            <a:chExt cx="5334079" cy="5194723"/>
          </a:xfrm>
        </p:grpSpPr>
        <p:sp>
          <p:nvSpPr>
            <p:cNvPr id="8" name="TextBox 8"/>
            <p:cNvSpPr txBox="1"/>
            <p:nvPr/>
          </p:nvSpPr>
          <p:spPr>
            <a:xfrm>
              <a:off x="0" y="47625"/>
              <a:ext cx="5334079" cy="1523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80"/>
                </a:lnSpc>
              </a:pPr>
              <a:r>
                <a:rPr lang="en-US" sz="4425" b="1" spc="-44">
                  <a:solidFill>
                    <a:srgbClr val="F5F8F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Waktu Gagal Login pertama</a:t>
              </a:r>
              <a:endParaRPr lang="en-US" sz="4425" b="1" spc="-44">
                <a:solidFill>
                  <a:srgbClr val="F5F8FA"/>
                </a:solidFill>
                <a:latin typeface="Nyutro Sans Bold"/>
                <a:ea typeface="Nyutro Sans Bold"/>
                <a:cs typeface="Nyutro Sans Bold"/>
                <a:sym typeface="Nyutro Sa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3577" y="1678940"/>
              <a:ext cx="4486925" cy="3515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2500">
                  <a:solidFill>
                    <a:srgbClr val="F5F8F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Berdasarkan hasil analisis log sistem, tercatat bahwa upaya login terakhir yang gagal terjadi pada pukul 11:39:31</a:t>
              </a:r>
              <a:endParaRPr lang="en-US" sz="2500">
                <a:solidFill>
                  <a:srgbClr val="F5F8FA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4" y="5828088"/>
            <a:ext cx="17621251" cy="9766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068877"/>
            <a:ext cx="13811250" cy="1588598"/>
            <a:chOff x="0" y="536169"/>
            <a:chExt cx="13017500" cy="2118131"/>
          </a:xfrm>
        </p:grpSpPr>
        <p:sp>
          <p:nvSpPr>
            <p:cNvPr id="3" name="TextBox 3"/>
            <p:cNvSpPr txBox="1"/>
            <p:nvPr/>
          </p:nvSpPr>
          <p:spPr>
            <a:xfrm>
              <a:off x="0" y="536169"/>
              <a:ext cx="13017500" cy="1384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0"/>
                </a:lnSpc>
                <a:spcBef>
                  <a:spcPct val="0"/>
                </a:spcBef>
              </a:pPr>
              <a:r>
                <a:rPr lang="en-US" sz="8000" b="1" spc="-89" dirty="0" smtClean="0">
                  <a:latin typeface="Times New Roman" panose="02020603050405020304" pitchFamily="18" charset="0"/>
                  <a:ea typeface="Nyutro Sans Heavy"/>
                  <a:cs typeface="Times New Roman" panose="02020603050405020304" pitchFamily="18" charset="0"/>
                  <a:sym typeface="Nyutro Sans Heavy"/>
                </a:rPr>
                <a:t>Recommendation (High-Level)</a:t>
              </a:r>
              <a:endParaRPr lang="en-US" sz="8000" b="1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100" y="2000250"/>
              <a:ext cx="12979400" cy="654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  <p:sp>
        <p:nvSpPr>
          <p:cNvPr id="12" name="Rectangle 11"/>
          <p:cNvSpPr/>
          <p:nvPr/>
        </p:nvSpPr>
        <p:spPr>
          <a:xfrm>
            <a:off x="659229" y="2684733"/>
            <a:ext cx="16373475" cy="6934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Perkuat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Infrastruktur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Aktifkan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firewall (UFW)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auto-blocking (Fail2ban)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cegah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intrusi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jaringan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Terapkan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Validasi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Ketat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Gunakan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Prepared Statements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sanitasi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memblokir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Injection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XSS. 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Lindungi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Sensitif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Hapus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hardcoded password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terapkan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hashing yang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kredensial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Perketat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Terapkan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session timeout yang valid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regenerasi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mencegah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pengambilalihan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Evaluasi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Berkala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Implementasikan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siklus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SDLC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lakukan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SAST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pentest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rutin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sebelum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rilis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production.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27116" y="6956531"/>
            <a:ext cx="19247032" cy="4815863"/>
            <a:chOff x="0" y="0"/>
            <a:chExt cx="5069177" cy="1268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69177" cy="1268375"/>
            </a:xfrm>
            <a:custGeom>
              <a:avLst/>
              <a:gdLst/>
              <a:ahLst/>
              <a:cxnLst/>
              <a:rect l="l" t="t" r="r" b="b"/>
              <a:pathLst>
                <a:path w="5069177" h="1268375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2A3F5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5"/>
                </a:lnSpc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8600" y="7758112"/>
            <a:ext cx="4973692" cy="978766"/>
            <a:chOff x="-584200" y="-95250"/>
            <a:chExt cx="6631589" cy="1305020"/>
          </a:xfrm>
        </p:grpSpPr>
        <p:sp>
          <p:nvSpPr>
            <p:cNvPr id="6" name="TextBox 6"/>
            <p:cNvSpPr txBox="1"/>
            <p:nvPr/>
          </p:nvSpPr>
          <p:spPr>
            <a:xfrm>
              <a:off x="-584200" y="611316"/>
              <a:ext cx="6631589" cy="5984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5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chemeClr val="bg1"/>
                  </a:solidFill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dimasjayusman8@gmail.com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451945" y="-95250"/>
              <a:ext cx="5346699" cy="59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3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Email</a:t>
              </a:r>
              <a:endPara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00712" y="7728058"/>
            <a:ext cx="4033673" cy="1006095"/>
            <a:chOff x="958849" y="-135322"/>
            <a:chExt cx="5378229" cy="1341459"/>
          </a:xfrm>
        </p:grpSpPr>
        <p:sp>
          <p:nvSpPr>
            <p:cNvPr id="9" name="TextBox 9"/>
            <p:cNvSpPr txBox="1"/>
            <p:nvPr/>
          </p:nvSpPr>
          <p:spPr>
            <a:xfrm>
              <a:off x="958849" y="607683"/>
              <a:ext cx="5346700" cy="598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3000" u="none" strike="noStrike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@</a:t>
              </a:r>
              <a:r>
                <a:rPr lang="en-US" sz="3000" dirty="0" err="1" smtClean="0">
                  <a:solidFill>
                    <a:schemeClr val="bg1"/>
                  </a:solidFill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dimasjayusman</a:t>
              </a:r>
              <a:endParaRPr lang="en-US" sz="3000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0380" y="-135322"/>
              <a:ext cx="5346698" cy="598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3000" b="1" u="none" strike="noStrike" dirty="0">
                  <a:solidFill>
                    <a:schemeClr val="bg1"/>
                  </a:solidFill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Social</a:t>
              </a:r>
              <a:endParaRPr lang="en-US" sz="30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7758112"/>
            <a:ext cx="4010025" cy="978766"/>
            <a:chOff x="0" y="-95250"/>
            <a:chExt cx="5346700" cy="130502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611316"/>
              <a:ext cx="5346700" cy="59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30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0811-8383-496</a:t>
              </a:r>
              <a:endPara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5346700" cy="59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3000" b="1" u="none" strike="noStrike" dirty="0">
                  <a:solidFill>
                    <a:schemeClr val="bg1"/>
                  </a:solidFill>
                  <a:latin typeface="Times New Roman" panose="02020603050405020304" pitchFamily="18" charset="0"/>
                  <a:ea typeface="Nyutro Sans Bold"/>
                  <a:cs typeface="Times New Roman" panose="02020603050405020304" pitchFamily="18" charset="0"/>
                  <a:sym typeface="Nyutro Sans Bold"/>
                </a:rPr>
                <a:t>Phone</a:t>
              </a:r>
              <a:endParaRPr lang="en-US" sz="30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Nyutro Sans Bold"/>
                <a:cs typeface="Times New Roman" panose="02020603050405020304" pitchFamily="18" charset="0"/>
                <a:sym typeface="Nyutro Sans Bold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32591" y="2019299"/>
            <a:ext cx="14077950" cy="2088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 dirty="0">
                <a:latin typeface="Times New Roman" panose="02020603050405020304" pitchFamily="18" charset="0"/>
                <a:ea typeface="Nyutro Sans Heavy"/>
                <a:cs typeface="Times New Roman" panose="02020603050405020304" pitchFamily="18" charset="0"/>
                <a:sym typeface="Nyutro Sans Heavy"/>
              </a:rPr>
              <a:t>Closing and Contact Information</a:t>
            </a:r>
            <a:endParaRPr lang="en-US" sz="9000" b="1" u="none" strike="noStrike" spc="-89" dirty="0">
              <a:latin typeface="Times New Roman" panose="02020603050405020304" pitchFamily="18" charset="0"/>
              <a:ea typeface="Nyutro Sans Heavy"/>
              <a:cs typeface="Times New Roman" panose="02020603050405020304" pitchFamily="18" charset="0"/>
              <a:sym typeface="Nyutro Sans Heavy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4954337" y="689882"/>
            <a:ext cx="2324850" cy="677636"/>
          </a:xfrm>
          <a:custGeom>
            <a:avLst/>
            <a:gdLst/>
            <a:ahLst/>
            <a:cxnLst/>
            <a:rect l="l" t="t" r="r" b="b"/>
            <a:pathLst>
              <a:path w="2324850" h="677636">
                <a:moveTo>
                  <a:pt x="0" y="0"/>
                </a:moveTo>
                <a:lnTo>
                  <a:pt x="2324850" y="0"/>
                </a:lnTo>
                <a:lnTo>
                  <a:pt x="2324850" y="677636"/>
                </a:lnTo>
                <a:lnTo>
                  <a:pt x="0" y="6776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069" r="-12659"/>
            </a:stretch>
          </a:blipFill>
        </p:spPr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1219" y="2414699"/>
            <a:ext cx="5791470" cy="6949764"/>
          </a:xfrm>
          <a:prstGeom prst="snip2DiagRect">
            <a:avLst>
              <a:gd name="adj1" fmla="val 10082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7487</Words>
  <Application>WPS Presentation</Application>
  <PresentationFormat>Custom</PresentationFormat>
  <Paragraphs>151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Nyutro Sans Heavy</vt:lpstr>
      <vt:lpstr>Nyutro Sans</vt:lpstr>
      <vt:lpstr>Nyutro Sans Bold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Salinan dari Presentation - Portfolio Profesional Cybersecurity</dc:title>
  <dc:creator/>
  <dc:description>Presentation - Portfolio Profesional Cybersecurity</dc:description>
  <cp:lastModifiedBy>dimas</cp:lastModifiedBy>
  <cp:revision>16</cp:revision>
  <dcterms:created xsi:type="dcterms:W3CDTF">2006-08-16T00:00:00Z</dcterms:created>
  <dcterms:modified xsi:type="dcterms:W3CDTF">2026-06-05T16:07:20Z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2FB3D711F54243939FAFA76F2E81A830_12</vt:lpwstr>
  </property>
</Properties>
</file>